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6e8aa9452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f6e8aa9452_4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f6e8aa9452_4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11641089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102"/>
          <p:cNvSpPr txBox="1"/>
          <p:nvPr/>
        </p:nvSpPr>
        <p:spPr>
          <a:xfrm>
            <a:off x="960120" y="1645920"/>
            <a:ext cx="102412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·  SUMMER RESEARCH INTERNSHIP 2026</a:t>
            </a:r>
          </a:p>
        </p:txBody>
      </p:sp>
      <p:sp>
        <p:nvSpPr>
          <p:cNvPr id="103" name="S104"/>
          <p:cNvSpPr txBox="1"/>
          <p:nvPr/>
        </p:nvSpPr>
        <p:spPr>
          <a:xfrm>
            <a:off x="960120" y="20116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DEEP LEARNING FOR MEDICAL TISSUE IMAGE ANALYSIS</a:t>
            </a:r>
          </a:p>
        </p:txBody>
      </p:sp>
      <p:sp>
        <p:nvSpPr>
          <p:cNvPr id="105" name="S106"/>
          <p:cNvSpPr txBox="1"/>
          <p:nvPr/>
        </p:nvSpPr>
        <p:spPr>
          <a:xfrm>
            <a:off x="987552" y="3218688"/>
            <a:ext cx="23774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S108"/>
          <p:cNvSpPr txBox="1"/>
          <p:nvPr/>
        </p:nvSpPr>
        <p:spPr>
          <a:xfrm>
            <a:off x="960120" y="3401568"/>
            <a:ext cx="10241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Automatic Segmentation of Glands and Nuclei in Microscope Images of Human Tissue</a:t>
            </a:r>
          </a:p>
        </p:txBody>
      </p:sp>
      <p:sp>
        <p:nvSpPr>
          <p:cNvPr id="109" name="S110"/>
          <p:cNvSpPr txBox="1"/>
          <p:nvPr/>
        </p:nvSpPr>
        <p:spPr>
          <a:xfrm>
            <a:off x="960120" y="4434840"/>
            <a:ext cx="48920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S112"/>
          <p:cNvSpPr txBox="1"/>
          <p:nvPr/>
        </p:nvSpPr>
        <p:spPr>
          <a:xfrm>
            <a:off x="1216152" y="45720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</a:p>
        </p:txBody>
      </p:sp>
      <p:sp>
        <p:nvSpPr>
          <p:cNvPr id="113" name="S114"/>
          <p:cNvSpPr txBox="1"/>
          <p:nvPr/>
        </p:nvSpPr>
        <p:spPr>
          <a:xfrm>
            <a:off x="1216152" y="486460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Supratik Bhowal</a:t>
            </a:r>
          </a:p>
        </p:txBody>
      </p:sp>
      <p:sp>
        <p:nvSpPr>
          <p:cNvPr id="115" name="S116"/>
          <p:cNvSpPr txBox="1"/>
          <p:nvPr/>
        </p:nvSpPr>
        <p:spPr>
          <a:xfrm>
            <a:off x="1216152" y="517550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</a:p>
        </p:txBody>
      </p:sp>
      <p:sp>
        <p:nvSpPr>
          <p:cNvPr id="117" name="S118"/>
          <p:cNvSpPr txBox="1"/>
          <p:nvPr/>
        </p:nvSpPr>
        <p:spPr>
          <a:xfrm>
            <a:off x="6858000" y="4434840"/>
            <a:ext cx="48920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S120"/>
          <p:cNvSpPr txBox="1"/>
          <p:nvPr/>
        </p:nvSpPr>
        <p:spPr>
          <a:xfrm>
            <a:off x="7114032" y="457200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UNDER THE MENTORSHIP OF</a:t>
            </a:r>
          </a:p>
        </p:txBody>
      </p:sp>
      <p:sp>
        <p:nvSpPr>
          <p:cNvPr id="121" name="S122"/>
          <p:cNvSpPr txBox="1"/>
          <p:nvPr/>
        </p:nvSpPr>
        <p:spPr>
          <a:xfrm>
            <a:off x="7114032" y="486460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lvl="0"/>
            <a:r>
              <a:rPr lang="en-US" sz="17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17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Animesh</a:t>
            </a:r>
            <a:r>
              <a:rPr lang="en-US" sz="1700" b="1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Hazra</a:t>
            </a:r>
            <a:endParaRPr lang="en-US" sz="1700" b="1" i="0" dirty="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S124"/>
          <p:cNvSpPr txBox="1"/>
          <p:nvPr/>
        </p:nvSpPr>
        <p:spPr>
          <a:xfrm>
            <a:off x="7114032" y="517550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lvl="0"/>
            <a:r>
              <a:rPr lang="en-US" sz="105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Assistant Professor of Computer Science &amp; Engineering,</a:t>
            </a:r>
          </a:p>
          <a:p>
            <a:pPr lvl="0"/>
            <a:r>
              <a:rPr lang="en-US" sz="1050" dirty="0" err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Jalpaiguri</a:t>
            </a:r>
            <a:r>
              <a:rPr lang="en-US" sz="105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Government Engineering College</a:t>
            </a:r>
            <a:endParaRPr lang="en-US" sz="1050" b="0" i="0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126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S129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130" name="S131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Teaching computers to read tissue slides</a:t>
            </a:r>
          </a:p>
        </p:txBody>
      </p:sp>
      <p:sp>
        <p:nvSpPr>
          <p:cNvPr id="132" name="S133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134" name="S13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136" name="S137"/>
          <p:cNvSpPr txBox="1"/>
          <p:nvPr/>
        </p:nvSpPr>
        <p:spPr>
          <a:xfrm>
            <a:off x="502920" y="1627632"/>
            <a:ext cx="57607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8" name="S139"/>
          <p:cNvSpPr txBox="1"/>
          <p:nvPr/>
        </p:nvSpPr>
        <p:spPr>
          <a:xfrm>
            <a:off x="777240" y="1810512"/>
            <a:ext cx="5212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</a:p>
        </p:txBody>
      </p:sp>
      <p:sp>
        <p:nvSpPr>
          <p:cNvPr id="140" name="S141"/>
          <p:cNvSpPr txBox="1"/>
          <p:nvPr/>
        </p:nvSpPr>
        <p:spPr>
          <a:xfrm>
            <a:off x="777240" y="2212848"/>
            <a:ext cx="521208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To grade a cancer, pathologists examine thin slices of stained tissue under a microscope. The grade depends on counting and measuring individual glands and cell nuclei.</a:t>
            </a:r>
          </a:p>
          <a:p>
            <a:pPr marL="0" lvl="0" indent="0" algn="l" rtl="0">
              <a:lnSpc>
                <a:spcPct val="118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Doing this by hand is slow, tiring and subjective, and different experts often disagree. Software that outlines every object automatically could make the process faster and more consistent.</a:t>
            </a:r>
          </a:p>
        </p:txBody>
      </p:sp>
      <p:sp>
        <p:nvSpPr>
          <p:cNvPr id="142" name="S143"/>
          <p:cNvSpPr txBox="1"/>
          <p:nvPr/>
        </p:nvSpPr>
        <p:spPr>
          <a:xfrm>
            <a:off x="6537960" y="1627632"/>
            <a:ext cx="516636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44" name="S145"/>
          <p:cNvSpPr txBox="1"/>
          <p:nvPr/>
        </p:nvSpPr>
        <p:spPr>
          <a:xfrm>
            <a:off x="6711696" y="176479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46" name="S147"/>
          <p:cNvSpPr txBox="1"/>
          <p:nvPr/>
        </p:nvSpPr>
        <p:spPr>
          <a:xfrm>
            <a:off x="6711696" y="1764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148" name="S149"/>
          <p:cNvSpPr txBox="1"/>
          <p:nvPr/>
        </p:nvSpPr>
        <p:spPr>
          <a:xfrm>
            <a:off x="7223760" y="170078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Tissue slide image</a:t>
            </a:r>
          </a:p>
        </p:txBody>
      </p:sp>
      <p:sp>
        <p:nvSpPr>
          <p:cNvPr id="150" name="S151"/>
          <p:cNvSpPr txBox="1"/>
          <p:nvPr/>
        </p:nvSpPr>
        <p:spPr>
          <a:xfrm>
            <a:off x="7223760" y="195681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 stained microscope image of human tissue</a:t>
            </a:r>
          </a:p>
        </p:txBody>
      </p:sp>
      <p:sp>
        <p:nvSpPr>
          <p:cNvPr id="152" name="S153"/>
          <p:cNvSpPr txBox="1"/>
          <p:nvPr/>
        </p:nvSpPr>
        <p:spPr>
          <a:xfrm>
            <a:off x="6784848" y="22677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</a:p>
        </p:txBody>
      </p:sp>
      <p:sp>
        <p:nvSpPr>
          <p:cNvPr id="154" name="S155"/>
          <p:cNvSpPr txBox="1"/>
          <p:nvPr/>
        </p:nvSpPr>
        <p:spPr>
          <a:xfrm>
            <a:off x="6537960" y="2450592"/>
            <a:ext cx="516636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56" name="S157"/>
          <p:cNvSpPr txBox="1"/>
          <p:nvPr/>
        </p:nvSpPr>
        <p:spPr>
          <a:xfrm>
            <a:off x="6711696" y="258775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58" name="S159"/>
          <p:cNvSpPr txBox="1"/>
          <p:nvPr/>
        </p:nvSpPr>
        <p:spPr>
          <a:xfrm>
            <a:off x="6711696" y="25877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160" name="S161"/>
          <p:cNvSpPr txBox="1"/>
          <p:nvPr/>
        </p:nvSpPr>
        <p:spPr>
          <a:xfrm>
            <a:off x="7223760" y="252374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Pretrained AI vision model</a:t>
            </a:r>
          </a:p>
        </p:txBody>
      </p:sp>
      <p:sp>
        <p:nvSpPr>
          <p:cNvPr id="162" name="S163"/>
          <p:cNvSpPr txBox="1"/>
          <p:nvPr/>
        </p:nvSpPr>
        <p:spPr>
          <a:xfrm>
            <a:off x="7223760" y="277977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Already trained on millions of tissue images</a:t>
            </a:r>
          </a:p>
        </p:txBody>
      </p:sp>
      <p:sp>
        <p:nvSpPr>
          <p:cNvPr id="164" name="S165"/>
          <p:cNvSpPr txBox="1"/>
          <p:nvPr/>
        </p:nvSpPr>
        <p:spPr>
          <a:xfrm>
            <a:off x="6784848" y="3090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</a:p>
        </p:txBody>
      </p:sp>
      <p:sp>
        <p:nvSpPr>
          <p:cNvPr id="166" name="S167"/>
          <p:cNvSpPr txBox="1"/>
          <p:nvPr/>
        </p:nvSpPr>
        <p:spPr>
          <a:xfrm>
            <a:off x="6537960" y="3273552"/>
            <a:ext cx="516636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68" name="S169"/>
          <p:cNvSpPr txBox="1"/>
          <p:nvPr/>
        </p:nvSpPr>
        <p:spPr>
          <a:xfrm>
            <a:off x="6711696" y="341071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70" name="S171"/>
          <p:cNvSpPr txBox="1"/>
          <p:nvPr/>
        </p:nvSpPr>
        <p:spPr>
          <a:xfrm>
            <a:off x="6711696" y="34107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172" name="S173"/>
          <p:cNvSpPr txBox="1"/>
          <p:nvPr/>
        </p:nvSpPr>
        <p:spPr>
          <a:xfrm>
            <a:off x="7223760" y="334670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Outline every gland and nucleus</a:t>
            </a:r>
          </a:p>
        </p:txBody>
      </p:sp>
      <p:sp>
        <p:nvSpPr>
          <p:cNvPr id="174" name="S175"/>
          <p:cNvSpPr txBox="1"/>
          <p:nvPr/>
        </p:nvSpPr>
        <p:spPr>
          <a:xfrm>
            <a:off x="7223760" y="360273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Each object separated from its neighbours</a:t>
            </a:r>
          </a:p>
        </p:txBody>
      </p:sp>
      <p:sp>
        <p:nvSpPr>
          <p:cNvPr id="176" name="S177"/>
          <p:cNvSpPr txBox="1"/>
          <p:nvPr/>
        </p:nvSpPr>
        <p:spPr>
          <a:xfrm>
            <a:off x="6784848" y="39136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</a:p>
        </p:txBody>
      </p:sp>
      <p:sp>
        <p:nvSpPr>
          <p:cNvPr id="178" name="S179"/>
          <p:cNvSpPr txBox="1"/>
          <p:nvPr/>
        </p:nvSpPr>
        <p:spPr>
          <a:xfrm>
            <a:off x="6537960" y="4096512"/>
            <a:ext cx="516636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80" name="S181"/>
          <p:cNvSpPr txBox="1"/>
          <p:nvPr/>
        </p:nvSpPr>
        <p:spPr>
          <a:xfrm>
            <a:off x="6711696" y="4233672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82" name="S183"/>
          <p:cNvSpPr txBox="1"/>
          <p:nvPr/>
        </p:nvSpPr>
        <p:spPr>
          <a:xfrm>
            <a:off x="6711696" y="42336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184" name="S185"/>
          <p:cNvSpPr txBox="1"/>
          <p:nvPr/>
        </p:nvSpPr>
        <p:spPr>
          <a:xfrm>
            <a:off x="7223760" y="416966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Objective measurements</a:t>
            </a:r>
          </a:p>
        </p:txBody>
      </p:sp>
      <p:sp>
        <p:nvSpPr>
          <p:cNvPr id="186" name="S187"/>
          <p:cNvSpPr txBox="1"/>
          <p:nvPr/>
        </p:nvSpPr>
        <p:spPr>
          <a:xfrm>
            <a:off x="7223760" y="442569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Counts and shapes that support cancer grading</a:t>
            </a:r>
          </a:p>
        </p:txBody>
      </p:sp>
      <p:sp>
        <p:nvSpPr>
          <p:cNvPr id="188" name="S189"/>
          <p:cNvSpPr txBox="1"/>
          <p:nvPr/>
        </p:nvSpPr>
        <p:spPr>
          <a:xfrm>
            <a:off x="502920" y="5504688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90" name="S191"/>
          <p:cNvSpPr txBox="1"/>
          <p:nvPr/>
        </p:nvSpPr>
        <p:spPr>
          <a:xfrm>
            <a:off x="685800" y="5522976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Marking which pixels are tissue is the easy part — separating each touching object into its own outline is the hard part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193"/>
          <p:cNvSpPr txBox="1"/>
          <p:nvPr/>
        </p:nvSpPr>
        <p:spPr>
          <a:xfrm>
            <a:off x="1005840" y="384048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</a:p>
        </p:txBody>
      </p:sp>
      <p:sp>
        <p:nvSpPr>
          <p:cNvPr id="194" name="S195"/>
          <p:cNvSpPr txBox="1"/>
          <p:nvPr/>
        </p:nvSpPr>
        <p:spPr>
          <a:xfrm>
            <a:off x="1024128" y="1042416"/>
            <a:ext cx="9674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Objective and research questions</a:t>
            </a:r>
          </a:p>
        </p:txBody>
      </p:sp>
      <p:sp>
        <p:nvSpPr>
          <p:cNvPr id="196" name="S197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198" name="S199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200" name="S201"/>
          <p:cNvSpPr txBox="1"/>
          <p:nvPr/>
        </p:nvSpPr>
        <p:spPr>
          <a:xfrm>
            <a:off x="502920" y="1572768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02" name="S203"/>
          <p:cNvSpPr txBox="1"/>
          <p:nvPr/>
        </p:nvSpPr>
        <p:spPr>
          <a:xfrm>
            <a:off x="777240" y="1645920"/>
            <a:ext cx="10652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 adapt a large pretrained vision model so that it can accurately outline and separate individual glands and nuclei in microscope tissue images, using limited computing power and very few annotated examples.</a:t>
            </a:r>
          </a:p>
        </p:txBody>
      </p:sp>
      <p:sp>
        <p:nvSpPr>
          <p:cNvPr id="204" name="S205"/>
          <p:cNvSpPr txBox="1"/>
          <p:nvPr/>
        </p:nvSpPr>
        <p:spPr>
          <a:xfrm>
            <a:off x="502920" y="267004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</a:p>
        </p:txBody>
      </p:sp>
      <p:sp>
        <p:nvSpPr>
          <p:cNvPr id="206" name="S207"/>
          <p:cNvSpPr txBox="1"/>
          <p:nvPr/>
        </p:nvSpPr>
        <p:spPr>
          <a:xfrm>
            <a:off x="502920" y="3090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08" name="S209"/>
          <p:cNvSpPr txBox="1"/>
          <p:nvPr/>
        </p:nvSpPr>
        <p:spPr>
          <a:xfrm>
            <a:off x="758952" y="3328416"/>
            <a:ext cx="713232" cy="31089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10" name="S211"/>
          <p:cNvSpPr txBox="1"/>
          <p:nvPr/>
        </p:nvSpPr>
        <p:spPr>
          <a:xfrm>
            <a:off x="758952" y="332841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</a:p>
        </p:txBody>
      </p:sp>
      <p:sp>
        <p:nvSpPr>
          <p:cNvPr id="212" name="S213"/>
          <p:cNvSpPr txBox="1"/>
          <p:nvPr/>
        </p:nvSpPr>
        <p:spPr>
          <a:xfrm>
            <a:off x="758952" y="373075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Can a large pretrained model be specialised for this task without retraining all of it?</a:t>
            </a:r>
          </a:p>
        </p:txBody>
      </p:sp>
      <p:sp>
        <p:nvSpPr>
          <p:cNvPr id="214" name="S215"/>
          <p:cNvSpPr txBox="1"/>
          <p:nvPr/>
        </p:nvSpPr>
        <p:spPr>
          <a:xfrm>
            <a:off x="6355080" y="3090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16" name="S217"/>
          <p:cNvSpPr txBox="1"/>
          <p:nvPr/>
        </p:nvSpPr>
        <p:spPr>
          <a:xfrm>
            <a:off x="6611112" y="3328416"/>
            <a:ext cx="713232" cy="31089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18" name="S219"/>
          <p:cNvSpPr txBox="1"/>
          <p:nvPr/>
        </p:nvSpPr>
        <p:spPr>
          <a:xfrm>
            <a:off x="6611112" y="332841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</a:p>
        </p:txBody>
      </p:sp>
      <p:sp>
        <p:nvSpPr>
          <p:cNvPr id="220" name="S221"/>
          <p:cNvSpPr txBox="1"/>
          <p:nvPr/>
        </p:nvSpPr>
        <p:spPr>
          <a:xfrm>
            <a:off x="6611112" y="373075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Can object outlines be learned without asking experts to draw boundary annotations?</a:t>
            </a:r>
          </a:p>
        </p:txBody>
      </p:sp>
      <p:sp>
        <p:nvSpPr>
          <p:cNvPr id="222" name="S223"/>
          <p:cNvSpPr txBox="1"/>
          <p:nvPr/>
        </p:nvSpPr>
        <p:spPr>
          <a:xfrm>
            <a:off x="502920" y="455371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24" name="S225"/>
          <p:cNvSpPr txBox="1"/>
          <p:nvPr/>
        </p:nvSpPr>
        <p:spPr>
          <a:xfrm>
            <a:off x="758952" y="4791456"/>
            <a:ext cx="713232" cy="31089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26" name="S227"/>
          <p:cNvSpPr txBox="1"/>
          <p:nvPr/>
        </p:nvSpPr>
        <p:spPr>
          <a:xfrm>
            <a:off x="758952" y="479145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</a:p>
        </p:txBody>
      </p:sp>
      <p:sp>
        <p:nvSpPr>
          <p:cNvPr id="228" name="S229"/>
          <p:cNvSpPr txBox="1"/>
          <p:nvPr/>
        </p:nvSpPr>
        <p:spPr>
          <a:xfrm>
            <a:off x="758952" y="519379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How few annotated images are enough when plenty of unlabelled images are available?</a:t>
            </a:r>
          </a:p>
        </p:txBody>
      </p:sp>
      <p:sp>
        <p:nvSpPr>
          <p:cNvPr id="230" name="S231"/>
          <p:cNvSpPr txBox="1"/>
          <p:nvPr/>
        </p:nvSpPr>
        <p:spPr>
          <a:xfrm>
            <a:off x="6355080" y="455371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32" name="S233"/>
          <p:cNvSpPr txBox="1"/>
          <p:nvPr/>
        </p:nvSpPr>
        <p:spPr>
          <a:xfrm>
            <a:off x="6611112" y="4791456"/>
            <a:ext cx="713232" cy="310896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34" name="S235"/>
          <p:cNvSpPr txBox="1"/>
          <p:nvPr/>
        </p:nvSpPr>
        <p:spPr>
          <a:xfrm>
            <a:off x="6611112" y="479145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</a:p>
        </p:txBody>
      </p:sp>
      <p:sp>
        <p:nvSpPr>
          <p:cNvPr id="236" name="S237"/>
          <p:cNvSpPr txBox="1"/>
          <p:nvPr/>
        </p:nvSpPr>
        <p:spPr>
          <a:xfrm>
            <a:off x="6611112" y="5193792"/>
            <a:ext cx="4846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How does the approach compare with existing methods in accuracy and training cost?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239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S242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Literature Study</a:t>
            </a:r>
          </a:p>
        </p:txBody>
      </p:sp>
      <p:sp>
        <p:nvSpPr>
          <p:cNvPr id="243" name="S244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Areas surveyed and the gap this work addresses</a:t>
            </a:r>
          </a:p>
        </p:txBody>
      </p:sp>
      <p:sp>
        <p:nvSpPr>
          <p:cNvPr id="245" name="S246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247" name="S24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249" name="S250"/>
          <p:cNvSpPr txBox="1"/>
          <p:nvPr/>
        </p:nvSpPr>
        <p:spPr>
          <a:xfrm>
            <a:off x="502920" y="164592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51" name="S252"/>
          <p:cNvSpPr txBox="1"/>
          <p:nvPr/>
        </p:nvSpPr>
        <p:spPr>
          <a:xfrm>
            <a:off x="758952" y="186537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53" name="S254"/>
          <p:cNvSpPr txBox="1"/>
          <p:nvPr/>
        </p:nvSpPr>
        <p:spPr>
          <a:xfrm>
            <a:off x="75895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255" name="S256"/>
          <p:cNvSpPr txBox="1"/>
          <p:nvPr/>
        </p:nvSpPr>
        <p:spPr>
          <a:xfrm>
            <a:off x="1289304" y="182880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Pathology foundation models</a:t>
            </a:r>
          </a:p>
        </p:txBody>
      </p:sp>
      <p:sp>
        <p:nvSpPr>
          <p:cNvPr id="257" name="S258"/>
          <p:cNvSpPr txBox="1"/>
          <p:nvPr/>
        </p:nvSpPr>
        <p:spPr>
          <a:xfrm>
            <a:off x="758952" y="221284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Large vision models pretrained on millions of tissue images. They recognise tissue type well, but are not trained to separate touching objects.</a:t>
            </a:r>
          </a:p>
        </p:txBody>
      </p:sp>
      <p:sp>
        <p:nvSpPr>
          <p:cNvPr id="259" name="S260"/>
          <p:cNvSpPr txBox="1"/>
          <p:nvPr/>
        </p:nvSpPr>
        <p:spPr>
          <a:xfrm>
            <a:off x="6355080" y="164592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61" name="S262"/>
          <p:cNvSpPr txBox="1"/>
          <p:nvPr/>
        </p:nvSpPr>
        <p:spPr>
          <a:xfrm>
            <a:off x="6611112" y="186537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63" name="S264"/>
          <p:cNvSpPr txBox="1"/>
          <p:nvPr/>
        </p:nvSpPr>
        <p:spPr>
          <a:xfrm>
            <a:off x="661111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265" name="S266"/>
          <p:cNvSpPr txBox="1"/>
          <p:nvPr/>
        </p:nvSpPr>
        <p:spPr>
          <a:xfrm>
            <a:off x="7141464" y="182880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Parameter-efficient fine-tuning</a:t>
            </a:r>
          </a:p>
        </p:txBody>
      </p:sp>
      <p:sp>
        <p:nvSpPr>
          <p:cNvPr id="267" name="S268"/>
          <p:cNvSpPr txBox="1"/>
          <p:nvPr/>
        </p:nvSpPr>
        <p:spPr>
          <a:xfrm>
            <a:off x="6611112" y="221284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Methods that keep a large model unchanged and train only a small added module, which lowers memory use and training cost.</a:t>
            </a:r>
          </a:p>
        </p:txBody>
      </p:sp>
      <p:sp>
        <p:nvSpPr>
          <p:cNvPr id="269" name="S270"/>
          <p:cNvSpPr txBox="1"/>
          <p:nvPr/>
        </p:nvSpPr>
        <p:spPr>
          <a:xfrm>
            <a:off x="502920" y="352044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71" name="S272"/>
          <p:cNvSpPr txBox="1"/>
          <p:nvPr/>
        </p:nvSpPr>
        <p:spPr>
          <a:xfrm>
            <a:off x="758952" y="373989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73" name="S274"/>
          <p:cNvSpPr txBox="1"/>
          <p:nvPr/>
        </p:nvSpPr>
        <p:spPr>
          <a:xfrm>
            <a:off x="758952" y="3739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275" name="S276"/>
          <p:cNvSpPr txBox="1"/>
          <p:nvPr/>
        </p:nvSpPr>
        <p:spPr>
          <a:xfrm>
            <a:off x="1289304" y="370332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Encoder–decoder segmentation</a:t>
            </a:r>
          </a:p>
        </p:txBody>
      </p:sp>
      <p:sp>
        <p:nvSpPr>
          <p:cNvPr id="277" name="S278"/>
          <p:cNvSpPr txBox="1"/>
          <p:nvPr/>
        </p:nvSpPr>
        <p:spPr>
          <a:xfrm>
            <a:off x="758952" y="408736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Established network designs that turn image features into pixel-level masks, and post-processing that splits merged objects.</a:t>
            </a:r>
          </a:p>
        </p:txBody>
      </p:sp>
      <p:sp>
        <p:nvSpPr>
          <p:cNvPr id="279" name="S280"/>
          <p:cNvSpPr txBox="1"/>
          <p:nvPr/>
        </p:nvSpPr>
        <p:spPr>
          <a:xfrm>
            <a:off x="6355080" y="352044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81" name="S282"/>
          <p:cNvSpPr txBox="1"/>
          <p:nvPr/>
        </p:nvSpPr>
        <p:spPr>
          <a:xfrm>
            <a:off x="6611112" y="373989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83" name="S284"/>
          <p:cNvSpPr txBox="1"/>
          <p:nvPr/>
        </p:nvSpPr>
        <p:spPr>
          <a:xfrm>
            <a:off x="6611112" y="3739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285" name="S286"/>
          <p:cNvSpPr txBox="1"/>
          <p:nvPr/>
        </p:nvSpPr>
        <p:spPr>
          <a:xfrm>
            <a:off x="7141464" y="370332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Semi-supervised learning</a:t>
            </a:r>
          </a:p>
        </p:txBody>
      </p:sp>
      <p:sp>
        <p:nvSpPr>
          <p:cNvPr id="287" name="S288"/>
          <p:cNvSpPr txBox="1"/>
          <p:nvPr/>
        </p:nvSpPr>
        <p:spPr>
          <a:xfrm>
            <a:off x="6611112" y="408736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Techniques that use plentiful unlabelled images together with a small annotated set to reduce the annotation burden.</a:t>
            </a:r>
          </a:p>
        </p:txBody>
      </p:sp>
      <p:sp>
        <p:nvSpPr>
          <p:cNvPr id="289" name="S290"/>
          <p:cNvSpPr txBox="1"/>
          <p:nvPr/>
        </p:nvSpPr>
        <p:spPr>
          <a:xfrm>
            <a:off x="502920" y="5486400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1" name="S292"/>
          <p:cNvSpPr txBox="1"/>
          <p:nvPr/>
        </p:nvSpPr>
        <p:spPr>
          <a:xfrm>
            <a:off x="685800" y="5504688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Benchmarks used: GlaS (glands) • PanNuke (nuclei, many tissue types) • CoNSeP (densely packed nuclei)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294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S297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</a:p>
        </p:txBody>
      </p:sp>
      <p:sp>
        <p:nvSpPr>
          <p:cNvPr id="298" name="S299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What this work adds to the field</a:t>
            </a:r>
          </a:p>
        </p:txBody>
      </p:sp>
      <p:sp>
        <p:nvSpPr>
          <p:cNvPr id="300" name="S301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302" name="S30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304" name="S305"/>
          <p:cNvSpPr txBox="1"/>
          <p:nvPr/>
        </p:nvSpPr>
        <p:spPr>
          <a:xfrm>
            <a:off x="502920" y="164592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6" name="S307"/>
          <p:cNvSpPr txBox="1"/>
          <p:nvPr/>
        </p:nvSpPr>
        <p:spPr>
          <a:xfrm>
            <a:off x="758952" y="186537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08" name="S309"/>
          <p:cNvSpPr txBox="1"/>
          <p:nvPr/>
        </p:nvSpPr>
        <p:spPr>
          <a:xfrm>
            <a:off x="75895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310" name="S311"/>
          <p:cNvSpPr txBox="1"/>
          <p:nvPr/>
        </p:nvSpPr>
        <p:spPr>
          <a:xfrm>
            <a:off x="1289304" y="182880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Low-cost specialisation</a:t>
            </a:r>
          </a:p>
        </p:txBody>
      </p:sp>
      <p:sp>
        <p:nvSpPr>
          <p:cNvPr id="312" name="S313"/>
          <p:cNvSpPr txBox="1"/>
          <p:nvPr/>
        </p:nvSpPr>
        <p:spPr>
          <a:xfrm>
            <a:off x="758952" y="221284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pretrained model itself stays unchanged; only a small added module is trained, so a new task costs a few megabytes instead of a full model.</a:t>
            </a:r>
          </a:p>
        </p:txBody>
      </p:sp>
      <p:sp>
        <p:nvSpPr>
          <p:cNvPr id="314" name="S315"/>
          <p:cNvSpPr txBox="1"/>
          <p:nvPr/>
        </p:nvSpPr>
        <p:spPr>
          <a:xfrm>
            <a:off x="6355080" y="164592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6" name="S317"/>
          <p:cNvSpPr txBox="1"/>
          <p:nvPr/>
        </p:nvSpPr>
        <p:spPr>
          <a:xfrm>
            <a:off x="6611112" y="186537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8" name="S319"/>
          <p:cNvSpPr txBox="1"/>
          <p:nvPr/>
        </p:nvSpPr>
        <p:spPr>
          <a:xfrm>
            <a:off x="661111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320" name="S321"/>
          <p:cNvSpPr txBox="1"/>
          <p:nvPr/>
        </p:nvSpPr>
        <p:spPr>
          <a:xfrm>
            <a:off x="7141464" y="182880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Boundaries without annotation</a:t>
            </a:r>
          </a:p>
        </p:txBody>
      </p:sp>
      <p:sp>
        <p:nvSpPr>
          <p:cNvPr id="322" name="S323"/>
          <p:cNvSpPr txBox="1"/>
          <p:nvPr/>
        </p:nvSpPr>
        <p:spPr>
          <a:xfrm>
            <a:off x="6611112" y="221284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way to teach the model object outlines that does not require experts to draw boundary annotations by hand.</a:t>
            </a:r>
          </a:p>
        </p:txBody>
      </p:sp>
      <p:sp>
        <p:nvSpPr>
          <p:cNvPr id="324" name="S325"/>
          <p:cNvSpPr txBox="1"/>
          <p:nvPr/>
        </p:nvSpPr>
        <p:spPr>
          <a:xfrm>
            <a:off x="502920" y="352044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26" name="S327"/>
          <p:cNvSpPr txBox="1"/>
          <p:nvPr/>
        </p:nvSpPr>
        <p:spPr>
          <a:xfrm>
            <a:off x="758952" y="373989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28" name="S329"/>
          <p:cNvSpPr txBox="1"/>
          <p:nvPr/>
        </p:nvSpPr>
        <p:spPr>
          <a:xfrm>
            <a:off x="758952" y="3739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330" name="S331"/>
          <p:cNvSpPr txBox="1"/>
          <p:nvPr/>
        </p:nvSpPr>
        <p:spPr>
          <a:xfrm>
            <a:off x="1289304" y="370332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Learning from unlabelled images</a:t>
            </a:r>
          </a:p>
        </p:txBody>
      </p:sp>
      <p:sp>
        <p:nvSpPr>
          <p:cNvPr id="332" name="S333"/>
          <p:cNvSpPr txBox="1"/>
          <p:nvPr/>
        </p:nvSpPr>
        <p:spPr>
          <a:xfrm>
            <a:off x="758952" y="408736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systematic study of how far freely available unlabelled tissue images can substitute for costly annotated ones.</a:t>
            </a:r>
          </a:p>
        </p:txBody>
      </p:sp>
      <p:sp>
        <p:nvSpPr>
          <p:cNvPr id="334" name="S335"/>
          <p:cNvSpPr txBox="1"/>
          <p:nvPr/>
        </p:nvSpPr>
        <p:spPr>
          <a:xfrm>
            <a:off x="6355080" y="3520440"/>
            <a:ext cx="534924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36" name="S337"/>
          <p:cNvSpPr txBox="1"/>
          <p:nvPr/>
        </p:nvSpPr>
        <p:spPr>
          <a:xfrm>
            <a:off x="6611112" y="3739896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38" name="S339"/>
          <p:cNvSpPr txBox="1"/>
          <p:nvPr/>
        </p:nvSpPr>
        <p:spPr>
          <a:xfrm>
            <a:off x="6611112" y="3739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340" name="S341"/>
          <p:cNvSpPr txBox="1"/>
          <p:nvPr/>
        </p:nvSpPr>
        <p:spPr>
          <a:xfrm>
            <a:off x="7141464" y="3703320"/>
            <a:ext cx="43068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controlled evaluation</a:t>
            </a:r>
          </a:p>
        </p:txBody>
      </p:sp>
      <p:sp>
        <p:nvSpPr>
          <p:cNvPr id="342" name="S343"/>
          <p:cNvSpPr txBox="1"/>
          <p:nvPr/>
        </p:nvSpPr>
        <p:spPr>
          <a:xfrm>
            <a:off x="6611112" y="4087368"/>
            <a:ext cx="483717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One fixed protocol across three public benchmarks, with repeated runs and paired statistical testing rather than single-run claims.</a:t>
            </a:r>
          </a:p>
        </p:txBody>
      </p:sp>
      <p:sp>
        <p:nvSpPr>
          <p:cNvPr id="344" name="S345"/>
          <p:cNvSpPr txBox="1"/>
          <p:nvPr/>
        </p:nvSpPr>
        <p:spPr>
          <a:xfrm>
            <a:off x="502920" y="5486400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46" name="S347"/>
          <p:cNvSpPr txBox="1"/>
          <p:nvPr/>
        </p:nvSpPr>
        <p:spPr>
          <a:xfrm>
            <a:off x="685800" y="5504688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Positioning: a low-cost adaptation recipe — full benchmark tables are reserved for the manuscript under preparation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349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S352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</a:p>
        </p:txBody>
      </p:sp>
      <p:sp>
        <p:nvSpPr>
          <p:cNvPr id="353" name="S354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Approach, design and implementation</a:t>
            </a:r>
          </a:p>
        </p:txBody>
      </p:sp>
      <p:sp>
        <p:nvSpPr>
          <p:cNvPr id="355" name="S356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357" name="S35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</a:p>
        </p:txBody>
      </p:sp>
      <p:sp>
        <p:nvSpPr>
          <p:cNvPr id="359" name="S360"/>
          <p:cNvSpPr txBox="1"/>
          <p:nvPr/>
        </p:nvSpPr>
        <p:spPr>
          <a:xfrm>
            <a:off x="548640" y="182880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1" name="S362"/>
          <p:cNvSpPr txBox="1"/>
          <p:nvPr/>
        </p:nvSpPr>
        <p:spPr>
          <a:xfrm>
            <a:off x="1408176" y="202996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3" name="S364"/>
          <p:cNvSpPr txBox="1"/>
          <p:nvPr/>
        </p:nvSpPr>
        <p:spPr>
          <a:xfrm>
            <a:off x="1408176" y="20299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365" name="S366"/>
          <p:cNvSpPr txBox="1"/>
          <p:nvPr/>
        </p:nvSpPr>
        <p:spPr>
          <a:xfrm>
            <a:off x="694944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Prepare</a:t>
            </a:r>
          </a:p>
        </p:txBody>
      </p:sp>
      <p:sp>
        <p:nvSpPr>
          <p:cNvPr id="367" name="S368"/>
          <p:cNvSpPr txBox="1"/>
          <p:nvPr/>
        </p:nvSpPr>
        <p:spPr>
          <a:xfrm>
            <a:off x="713232" y="2889504"/>
            <a:ext cx="177393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Normalise the stain colours so images from different laboratories look alike, then cut each slide into small tiles.</a:t>
            </a:r>
          </a:p>
        </p:txBody>
      </p:sp>
      <p:sp>
        <p:nvSpPr>
          <p:cNvPr id="369" name="S370"/>
          <p:cNvSpPr txBox="1"/>
          <p:nvPr/>
        </p:nvSpPr>
        <p:spPr>
          <a:xfrm>
            <a:off x="2651760" y="3127248"/>
            <a:ext cx="1463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</a:p>
        </p:txBody>
      </p:sp>
      <p:sp>
        <p:nvSpPr>
          <p:cNvPr id="371" name="S372"/>
          <p:cNvSpPr txBox="1"/>
          <p:nvPr/>
        </p:nvSpPr>
        <p:spPr>
          <a:xfrm>
            <a:off x="2798064" y="182880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3" name="S374"/>
          <p:cNvSpPr txBox="1"/>
          <p:nvPr/>
        </p:nvSpPr>
        <p:spPr>
          <a:xfrm>
            <a:off x="3657600" y="202996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5" name="S376"/>
          <p:cNvSpPr txBox="1"/>
          <p:nvPr/>
        </p:nvSpPr>
        <p:spPr>
          <a:xfrm>
            <a:off x="3657600" y="20299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377" name="S378"/>
          <p:cNvSpPr txBox="1"/>
          <p:nvPr/>
        </p:nvSpPr>
        <p:spPr>
          <a:xfrm>
            <a:off x="2944368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Freeze</a:t>
            </a:r>
          </a:p>
        </p:txBody>
      </p:sp>
      <p:sp>
        <p:nvSpPr>
          <p:cNvPr id="379" name="S380"/>
          <p:cNvSpPr txBox="1"/>
          <p:nvPr/>
        </p:nvSpPr>
        <p:spPr>
          <a:xfrm>
            <a:off x="2962656" y="2889504"/>
            <a:ext cx="177393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Keep every weight of the large pretrained model unchanged, so none of its existing knowledge is overwritten.</a:t>
            </a:r>
          </a:p>
        </p:txBody>
      </p:sp>
      <p:sp>
        <p:nvSpPr>
          <p:cNvPr id="381" name="S382"/>
          <p:cNvSpPr txBox="1"/>
          <p:nvPr/>
        </p:nvSpPr>
        <p:spPr>
          <a:xfrm>
            <a:off x="4901184" y="3127248"/>
            <a:ext cx="1463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</a:p>
        </p:txBody>
      </p:sp>
      <p:sp>
        <p:nvSpPr>
          <p:cNvPr id="383" name="S384"/>
          <p:cNvSpPr txBox="1"/>
          <p:nvPr/>
        </p:nvSpPr>
        <p:spPr>
          <a:xfrm>
            <a:off x="5047488" y="182880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5" name="S386"/>
          <p:cNvSpPr txBox="1"/>
          <p:nvPr/>
        </p:nvSpPr>
        <p:spPr>
          <a:xfrm>
            <a:off x="5907024" y="202996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7" name="S388"/>
          <p:cNvSpPr txBox="1"/>
          <p:nvPr/>
        </p:nvSpPr>
        <p:spPr>
          <a:xfrm>
            <a:off x="5907024" y="20299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389" name="S390"/>
          <p:cNvSpPr txBox="1"/>
          <p:nvPr/>
        </p:nvSpPr>
        <p:spPr>
          <a:xfrm>
            <a:off x="5193792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Adapt</a:t>
            </a:r>
          </a:p>
        </p:txBody>
      </p:sp>
      <p:sp>
        <p:nvSpPr>
          <p:cNvPr id="391" name="S392"/>
          <p:cNvSpPr txBox="1"/>
          <p:nvPr/>
        </p:nvSpPr>
        <p:spPr>
          <a:xfrm>
            <a:off x="5212080" y="2889504"/>
            <a:ext cx="177393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Insert small trainable adapter modules inside it. These form under 3% of all parameters and are the only parts that learn.</a:t>
            </a:r>
          </a:p>
        </p:txBody>
      </p:sp>
      <p:sp>
        <p:nvSpPr>
          <p:cNvPr id="393" name="S394"/>
          <p:cNvSpPr txBox="1"/>
          <p:nvPr/>
        </p:nvSpPr>
        <p:spPr>
          <a:xfrm>
            <a:off x="7150608" y="3127248"/>
            <a:ext cx="1463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</a:p>
        </p:txBody>
      </p:sp>
      <p:sp>
        <p:nvSpPr>
          <p:cNvPr id="395" name="S396"/>
          <p:cNvSpPr txBox="1"/>
          <p:nvPr/>
        </p:nvSpPr>
        <p:spPr>
          <a:xfrm>
            <a:off x="7296912" y="182880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7" name="S398"/>
          <p:cNvSpPr txBox="1"/>
          <p:nvPr/>
        </p:nvSpPr>
        <p:spPr>
          <a:xfrm>
            <a:off x="8156448" y="202996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9" name="S400"/>
          <p:cNvSpPr txBox="1"/>
          <p:nvPr/>
        </p:nvSpPr>
        <p:spPr>
          <a:xfrm>
            <a:off x="8156448" y="20299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</a:p>
        </p:txBody>
      </p:sp>
      <p:sp>
        <p:nvSpPr>
          <p:cNvPr id="401" name="S402"/>
          <p:cNvSpPr txBox="1"/>
          <p:nvPr/>
        </p:nvSpPr>
        <p:spPr>
          <a:xfrm>
            <a:off x="7443216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Warm up</a:t>
            </a:r>
          </a:p>
        </p:txBody>
      </p:sp>
      <p:sp>
        <p:nvSpPr>
          <p:cNvPr id="403" name="S404"/>
          <p:cNvSpPr txBox="1"/>
          <p:nvPr/>
        </p:nvSpPr>
        <p:spPr>
          <a:xfrm>
            <a:off x="7461504" y="2889504"/>
            <a:ext cx="177393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Train those adapters on unlabelled tissue tiles with a self-supervised task, so no expert annotation is used at this stage.</a:t>
            </a:r>
          </a:p>
        </p:txBody>
      </p:sp>
      <p:sp>
        <p:nvSpPr>
          <p:cNvPr id="405" name="S406"/>
          <p:cNvSpPr txBox="1"/>
          <p:nvPr/>
        </p:nvSpPr>
        <p:spPr>
          <a:xfrm>
            <a:off x="9400032" y="3127248"/>
            <a:ext cx="14630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</a:p>
        </p:txBody>
      </p:sp>
      <p:sp>
        <p:nvSpPr>
          <p:cNvPr id="407" name="S408"/>
          <p:cNvSpPr txBox="1"/>
          <p:nvPr/>
        </p:nvSpPr>
        <p:spPr>
          <a:xfrm>
            <a:off x="9546336" y="182880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9" name="S410"/>
          <p:cNvSpPr txBox="1"/>
          <p:nvPr/>
        </p:nvSpPr>
        <p:spPr>
          <a:xfrm>
            <a:off x="10405872" y="202996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1" name="S412"/>
          <p:cNvSpPr txBox="1"/>
          <p:nvPr/>
        </p:nvSpPr>
        <p:spPr>
          <a:xfrm>
            <a:off x="10405872" y="20299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</a:p>
        </p:txBody>
      </p:sp>
      <p:sp>
        <p:nvSpPr>
          <p:cNvPr id="413" name="S414"/>
          <p:cNvSpPr txBox="1"/>
          <p:nvPr/>
        </p:nvSpPr>
        <p:spPr>
          <a:xfrm>
            <a:off x="9692640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Decode</a:t>
            </a:r>
          </a:p>
        </p:txBody>
      </p:sp>
      <p:sp>
        <p:nvSpPr>
          <p:cNvPr id="415" name="S416"/>
          <p:cNvSpPr txBox="1"/>
          <p:nvPr/>
        </p:nvSpPr>
        <p:spPr>
          <a:xfrm>
            <a:off x="9710928" y="2889504"/>
            <a:ext cx="1773936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Train a compact decoder on the annotated images to produce the final outlines and separate each object.</a:t>
            </a:r>
          </a:p>
        </p:txBody>
      </p:sp>
      <p:sp>
        <p:nvSpPr>
          <p:cNvPr id="417" name="S418"/>
          <p:cNvSpPr txBox="1"/>
          <p:nvPr/>
        </p:nvSpPr>
        <p:spPr>
          <a:xfrm>
            <a:off x="502920" y="5212080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9" name="S420"/>
          <p:cNvSpPr txBox="1"/>
          <p:nvPr/>
        </p:nvSpPr>
        <p:spPr>
          <a:xfrm>
            <a:off x="685800" y="5230368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 used one fixed protocol across all three datasets, with repeated runs and paired statistical tests — on a single free-tier cloud GPU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422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3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S425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</a:p>
        </p:txBody>
      </p:sp>
      <p:sp>
        <p:nvSpPr>
          <p:cNvPr id="426" name="S427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Key findings and observations</a:t>
            </a:r>
          </a:p>
        </p:txBody>
      </p:sp>
      <p:sp>
        <p:nvSpPr>
          <p:cNvPr id="428" name="S429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430" name="S431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</a:p>
        </p:txBody>
      </p:sp>
      <p:sp>
        <p:nvSpPr>
          <p:cNvPr id="432" name="S433"/>
          <p:cNvSpPr txBox="1"/>
          <p:nvPr/>
        </p:nvSpPr>
        <p:spPr>
          <a:xfrm>
            <a:off x="502920" y="1645920"/>
            <a:ext cx="36118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34" name="S435"/>
          <p:cNvSpPr txBox="1"/>
          <p:nvPr/>
        </p:nvSpPr>
        <p:spPr>
          <a:xfrm>
            <a:off x="502920" y="1755648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All 3</a:t>
            </a:r>
          </a:p>
        </p:txBody>
      </p:sp>
      <p:sp>
        <p:nvSpPr>
          <p:cNvPr id="436" name="S437"/>
          <p:cNvSpPr txBox="1"/>
          <p:nvPr/>
        </p:nvSpPr>
        <p:spPr>
          <a:xfrm>
            <a:off x="731520" y="2340864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public benchmarks improved at the object level after adaptation</a:t>
            </a:r>
          </a:p>
        </p:txBody>
      </p:sp>
      <p:sp>
        <p:nvSpPr>
          <p:cNvPr id="438" name="S439"/>
          <p:cNvSpPr txBox="1"/>
          <p:nvPr/>
        </p:nvSpPr>
        <p:spPr>
          <a:xfrm>
            <a:off x="4389120" y="1645920"/>
            <a:ext cx="36118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40" name="S441"/>
          <p:cNvSpPr txBox="1"/>
          <p:nvPr/>
        </p:nvSpPr>
        <p:spPr>
          <a:xfrm>
            <a:off x="4389120" y="1755648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~1 / 5</a:t>
            </a:r>
          </a:p>
        </p:txBody>
      </p:sp>
      <p:sp>
        <p:nvSpPr>
          <p:cNvPr id="442" name="S443"/>
          <p:cNvSpPr txBox="1"/>
          <p:nvPr/>
        </p:nvSpPr>
        <p:spPr>
          <a:xfrm>
            <a:off x="4617720" y="2340864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of the annotations were enough when unlabelled images were used</a:t>
            </a:r>
          </a:p>
        </p:txBody>
      </p:sp>
      <p:sp>
        <p:nvSpPr>
          <p:cNvPr id="444" name="S445"/>
          <p:cNvSpPr txBox="1"/>
          <p:nvPr/>
        </p:nvSpPr>
        <p:spPr>
          <a:xfrm>
            <a:off x="8275320" y="1645920"/>
            <a:ext cx="361188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46" name="S447"/>
          <p:cNvSpPr txBox="1"/>
          <p:nvPr/>
        </p:nvSpPr>
        <p:spPr>
          <a:xfrm>
            <a:off x="8275320" y="1755648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&lt; 3 GB</a:t>
            </a:r>
          </a:p>
        </p:txBody>
      </p:sp>
      <p:sp>
        <p:nvSpPr>
          <p:cNvPr id="448" name="S449"/>
          <p:cNvSpPr txBox="1"/>
          <p:nvPr/>
        </p:nvSpPr>
        <p:spPr>
          <a:xfrm>
            <a:off x="8503920" y="2340864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peak GPU memory, so training fits a free-tier cloud GPU</a:t>
            </a:r>
          </a:p>
        </p:txBody>
      </p:sp>
      <p:sp>
        <p:nvSpPr>
          <p:cNvPr id="450" name="S451"/>
          <p:cNvSpPr txBox="1"/>
          <p:nvPr/>
        </p:nvSpPr>
        <p:spPr>
          <a:xfrm>
            <a:off x="502920" y="3127248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52" name="S453"/>
          <p:cNvSpPr txBox="1"/>
          <p:nvPr/>
        </p:nvSpPr>
        <p:spPr>
          <a:xfrm>
            <a:off x="758952" y="3310128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Where the gains are largest</a:t>
            </a:r>
          </a:p>
        </p:txBody>
      </p:sp>
      <p:sp>
        <p:nvSpPr>
          <p:cNvPr id="454" name="S455"/>
          <p:cNvSpPr txBox="1"/>
          <p:nvPr/>
        </p:nvSpPr>
        <p:spPr>
          <a:xfrm>
            <a:off x="758952" y="3694176"/>
            <a:ext cx="483717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Improvement was greatest on images where the objects are small and densely packed — exactly the situation in which separating touching objects is hardest and matters most.</a:t>
            </a:r>
          </a:p>
        </p:txBody>
      </p:sp>
      <p:sp>
        <p:nvSpPr>
          <p:cNvPr id="456" name="S457"/>
          <p:cNvSpPr txBox="1"/>
          <p:nvPr/>
        </p:nvSpPr>
        <p:spPr>
          <a:xfrm>
            <a:off x="6355080" y="3127248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58" name="S459"/>
          <p:cNvSpPr txBox="1"/>
          <p:nvPr/>
        </p:nvSpPr>
        <p:spPr>
          <a:xfrm>
            <a:off x="6611112" y="3310128"/>
            <a:ext cx="48371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Learning without boundary labels</a:t>
            </a:r>
          </a:p>
        </p:txBody>
      </p:sp>
      <p:sp>
        <p:nvSpPr>
          <p:cNvPr id="460" name="S461"/>
          <p:cNvSpPr txBox="1"/>
          <p:nvPr/>
        </p:nvSpPr>
        <p:spPr>
          <a:xfrm>
            <a:off x="6611112" y="3694176"/>
            <a:ext cx="483717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self-supervised warm-up stage consumed no expert annotation, yet object-level accuracy improved on every dataset tested, and the benefit was largest when annotated data was scarce.</a:t>
            </a:r>
          </a:p>
        </p:txBody>
      </p:sp>
      <p:sp>
        <p:nvSpPr>
          <p:cNvPr id="462" name="S463"/>
          <p:cNvSpPr txBox="1"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4" name="S465"/>
          <p:cNvSpPr txBox="1"/>
          <p:nvPr/>
        </p:nvSpPr>
        <p:spPr>
          <a:xfrm>
            <a:off x="685800" y="5248656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Exact metric values, ablation studies and benchmark tables are reserved for the full manuscript, currently under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467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S470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Comparison Study</a:t>
            </a:r>
          </a:p>
        </p:txBody>
      </p:sp>
      <p:sp>
        <p:nvSpPr>
          <p:cNvPr id="471" name="S472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How the approach compares with existing methods</a:t>
            </a:r>
          </a:p>
        </p:txBody>
      </p:sp>
      <p:sp>
        <p:nvSpPr>
          <p:cNvPr id="473" name="S474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475" name="S47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</a:p>
        </p:txBody>
      </p:sp>
      <p:sp>
        <p:nvSpPr>
          <p:cNvPr id="477" name="S478"/>
          <p:cNvSpPr txBox="1"/>
          <p:nvPr/>
        </p:nvSpPr>
        <p:spPr>
          <a:xfrm>
            <a:off x="502920" y="1691640"/>
            <a:ext cx="3246120" cy="457200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9" name="S480"/>
          <p:cNvSpPr txBox="1"/>
          <p:nvPr/>
        </p:nvSpPr>
        <p:spPr>
          <a:xfrm>
            <a:off x="649224" y="1691640"/>
            <a:ext cx="2953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</a:p>
        </p:txBody>
      </p:sp>
      <p:sp>
        <p:nvSpPr>
          <p:cNvPr id="481" name="S482"/>
          <p:cNvSpPr txBox="1"/>
          <p:nvPr/>
        </p:nvSpPr>
        <p:spPr>
          <a:xfrm>
            <a:off x="3749040" y="1691640"/>
            <a:ext cx="4160520" cy="457200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3" name="S484"/>
          <p:cNvSpPr txBox="1"/>
          <p:nvPr/>
        </p:nvSpPr>
        <p:spPr>
          <a:xfrm>
            <a:off x="3895344" y="1691640"/>
            <a:ext cx="38679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Typical published systems</a:t>
            </a:r>
          </a:p>
        </p:txBody>
      </p:sp>
      <p:sp>
        <p:nvSpPr>
          <p:cNvPr id="485" name="S486"/>
          <p:cNvSpPr txBox="1"/>
          <p:nvPr/>
        </p:nvSpPr>
        <p:spPr>
          <a:xfrm>
            <a:off x="7909560" y="1691640"/>
            <a:ext cx="3794760" cy="457200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7" name="S488"/>
          <p:cNvSpPr txBox="1"/>
          <p:nvPr/>
        </p:nvSpPr>
        <p:spPr>
          <a:xfrm>
            <a:off x="8055864" y="1691640"/>
            <a:ext cx="35021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work</a:t>
            </a:r>
          </a:p>
        </p:txBody>
      </p:sp>
      <p:sp>
        <p:nvSpPr>
          <p:cNvPr id="489" name="S490"/>
          <p:cNvSpPr txBox="1"/>
          <p:nvPr/>
        </p:nvSpPr>
        <p:spPr>
          <a:xfrm>
            <a:off x="502920" y="2148840"/>
            <a:ext cx="3246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1" name="S492"/>
          <p:cNvSpPr txBox="1"/>
          <p:nvPr/>
        </p:nvSpPr>
        <p:spPr>
          <a:xfrm>
            <a:off x="649224" y="2148840"/>
            <a:ext cx="2953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Parameters trained per task</a:t>
            </a:r>
          </a:p>
        </p:txBody>
      </p:sp>
      <p:sp>
        <p:nvSpPr>
          <p:cNvPr id="493" name="S494"/>
          <p:cNvSpPr txBox="1"/>
          <p:nvPr/>
        </p:nvSpPr>
        <p:spPr>
          <a:xfrm>
            <a:off x="3749040" y="2148840"/>
            <a:ext cx="4160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5" name="S496"/>
          <p:cNvSpPr txBox="1"/>
          <p:nvPr/>
        </p:nvSpPr>
        <p:spPr>
          <a:xfrm>
            <a:off x="3895344" y="2148840"/>
            <a:ext cx="3867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Tens to hundreds of millions</a:t>
            </a:r>
          </a:p>
        </p:txBody>
      </p:sp>
      <p:sp>
        <p:nvSpPr>
          <p:cNvPr id="497" name="S498"/>
          <p:cNvSpPr txBox="1"/>
          <p:nvPr/>
        </p:nvSpPr>
        <p:spPr>
          <a:xfrm>
            <a:off x="7909560" y="2148840"/>
            <a:ext cx="379476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9" name="S500"/>
          <p:cNvSpPr txBox="1"/>
          <p:nvPr/>
        </p:nvSpPr>
        <p:spPr>
          <a:xfrm>
            <a:off x="8055864" y="2148840"/>
            <a:ext cx="35021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small fraction (under 3%)</a:t>
            </a:r>
          </a:p>
        </p:txBody>
      </p:sp>
      <p:sp>
        <p:nvSpPr>
          <p:cNvPr id="501" name="S502"/>
          <p:cNvSpPr txBox="1"/>
          <p:nvPr/>
        </p:nvSpPr>
        <p:spPr>
          <a:xfrm>
            <a:off x="502920" y="2697480"/>
            <a:ext cx="324612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3" name="S504"/>
          <p:cNvSpPr txBox="1"/>
          <p:nvPr/>
        </p:nvSpPr>
        <p:spPr>
          <a:xfrm>
            <a:off x="649224" y="2697480"/>
            <a:ext cx="2953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Stored file per new task</a:t>
            </a:r>
          </a:p>
        </p:txBody>
      </p:sp>
      <p:sp>
        <p:nvSpPr>
          <p:cNvPr id="505" name="S506"/>
          <p:cNvSpPr txBox="1"/>
          <p:nvPr/>
        </p:nvSpPr>
        <p:spPr>
          <a:xfrm>
            <a:off x="3749040" y="2697480"/>
            <a:ext cx="416052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7" name="S508"/>
          <p:cNvSpPr txBox="1"/>
          <p:nvPr/>
        </p:nvSpPr>
        <p:spPr>
          <a:xfrm>
            <a:off x="3895344" y="2697480"/>
            <a:ext cx="3867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Hundreds of megabytes to gigabytes</a:t>
            </a:r>
          </a:p>
        </p:txBody>
      </p:sp>
      <p:sp>
        <p:nvSpPr>
          <p:cNvPr id="509" name="S510"/>
          <p:cNvSpPr txBox="1"/>
          <p:nvPr/>
        </p:nvSpPr>
        <p:spPr>
          <a:xfrm>
            <a:off x="7909560" y="2697480"/>
            <a:ext cx="379476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1" name="S512"/>
          <p:cNvSpPr txBox="1"/>
          <p:nvPr/>
        </p:nvSpPr>
        <p:spPr>
          <a:xfrm>
            <a:off x="8055864" y="2697480"/>
            <a:ext cx="35021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few megabytes</a:t>
            </a:r>
          </a:p>
        </p:txBody>
      </p:sp>
      <p:sp>
        <p:nvSpPr>
          <p:cNvPr id="513" name="S514"/>
          <p:cNvSpPr txBox="1"/>
          <p:nvPr/>
        </p:nvSpPr>
        <p:spPr>
          <a:xfrm>
            <a:off x="502920" y="3246120"/>
            <a:ext cx="3246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5" name="S516"/>
          <p:cNvSpPr txBox="1"/>
          <p:nvPr/>
        </p:nvSpPr>
        <p:spPr>
          <a:xfrm>
            <a:off x="649224" y="3246120"/>
            <a:ext cx="2953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Hardware used for training</a:t>
            </a:r>
          </a:p>
        </p:txBody>
      </p:sp>
      <p:sp>
        <p:nvSpPr>
          <p:cNvPr id="517" name="S518"/>
          <p:cNvSpPr txBox="1"/>
          <p:nvPr/>
        </p:nvSpPr>
        <p:spPr>
          <a:xfrm>
            <a:off x="3749040" y="3246120"/>
            <a:ext cx="4160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19" name="S520"/>
          <p:cNvSpPr txBox="1"/>
          <p:nvPr/>
        </p:nvSpPr>
        <p:spPr>
          <a:xfrm>
            <a:off x="3895344" y="3246120"/>
            <a:ext cx="3867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Server-class GPUs</a:t>
            </a:r>
          </a:p>
        </p:txBody>
      </p:sp>
      <p:sp>
        <p:nvSpPr>
          <p:cNvPr id="521" name="S522"/>
          <p:cNvSpPr txBox="1"/>
          <p:nvPr/>
        </p:nvSpPr>
        <p:spPr>
          <a:xfrm>
            <a:off x="7909560" y="3246120"/>
            <a:ext cx="379476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3" name="S524"/>
          <p:cNvSpPr txBox="1"/>
          <p:nvPr/>
        </p:nvSpPr>
        <p:spPr>
          <a:xfrm>
            <a:off x="8055864" y="3246120"/>
            <a:ext cx="35021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single free-tier cloud GPU</a:t>
            </a:r>
          </a:p>
        </p:txBody>
      </p:sp>
      <p:sp>
        <p:nvSpPr>
          <p:cNvPr id="525" name="S526"/>
          <p:cNvSpPr txBox="1"/>
          <p:nvPr/>
        </p:nvSpPr>
        <p:spPr>
          <a:xfrm>
            <a:off x="502920" y="3794760"/>
            <a:ext cx="324612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27" name="S528"/>
          <p:cNvSpPr txBox="1"/>
          <p:nvPr/>
        </p:nvSpPr>
        <p:spPr>
          <a:xfrm>
            <a:off x="649224" y="3794760"/>
            <a:ext cx="2953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Annotation requirement</a:t>
            </a:r>
          </a:p>
        </p:txBody>
      </p:sp>
      <p:sp>
        <p:nvSpPr>
          <p:cNvPr id="529" name="S530"/>
          <p:cNvSpPr txBox="1"/>
          <p:nvPr/>
        </p:nvSpPr>
        <p:spPr>
          <a:xfrm>
            <a:off x="3749040" y="3794760"/>
            <a:ext cx="416052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1" name="S532"/>
          <p:cNvSpPr txBox="1"/>
          <p:nvPr/>
        </p:nvSpPr>
        <p:spPr>
          <a:xfrm>
            <a:off x="3895344" y="3794760"/>
            <a:ext cx="3867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full annotated training set</a:t>
            </a:r>
          </a:p>
        </p:txBody>
      </p:sp>
      <p:sp>
        <p:nvSpPr>
          <p:cNvPr id="533" name="S534"/>
          <p:cNvSpPr txBox="1"/>
          <p:nvPr/>
        </p:nvSpPr>
        <p:spPr>
          <a:xfrm>
            <a:off x="7909560" y="3794760"/>
            <a:ext cx="3794760" cy="548640"/>
          </a:xfrm>
          <a:prstGeom prst="rect">
            <a:avLst/>
          </a:prstGeom>
          <a:solidFill>
            <a:srgbClr val="F5F7FC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5" name="S536"/>
          <p:cNvSpPr txBox="1"/>
          <p:nvPr/>
        </p:nvSpPr>
        <p:spPr>
          <a:xfrm>
            <a:off x="8055864" y="3794760"/>
            <a:ext cx="35021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small annotated set plus unlabelled images</a:t>
            </a:r>
          </a:p>
        </p:txBody>
      </p:sp>
      <p:sp>
        <p:nvSpPr>
          <p:cNvPr id="537" name="S538"/>
          <p:cNvSpPr txBox="1"/>
          <p:nvPr/>
        </p:nvSpPr>
        <p:spPr>
          <a:xfrm>
            <a:off x="502920" y="4343400"/>
            <a:ext cx="32461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39" name="S540"/>
          <p:cNvSpPr txBox="1"/>
          <p:nvPr/>
        </p:nvSpPr>
        <p:spPr>
          <a:xfrm>
            <a:off x="649224" y="4343400"/>
            <a:ext cx="29535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Reported accuracy</a:t>
            </a:r>
          </a:p>
        </p:txBody>
      </p:sp>
      <p:sp>
        <p:nvSpPr>
          <p:cNvPr id="541" name="S542"/>
          <p:cNvSpPr txBox="1"/>
          <p:nvPr/>
        </p:nvSpPr>
        <p:spPr>
          <a:xfrm>
            <a:off x="3749040" y="4343400"/>
            <a:ext cx="416052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3" name="S544"/>
          <p:cNvSpPr txBox="1"/>
          <p:nvPr/>
        </p:nvSpPr>
        <p:spPr>
          <a:xfrm>
            <a:off x="3895344" y="4343400"/>
            <a:ext cx="3867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State of the art</a:t>
            </a:r>
          </a:p>
        </p:txBody>
      </p:sp>
      <p:sp>
        <p:nvSpPr>
          <p:cNvPr id="545" name="S546"/>
          <p:cNvSpPr txBox="1"/>
          <p:nvPr/>
        </p:nvSpPr>
        <p:spPr>
          <a:xfrm>
            <a:off x="7909560" y="4343400"/>
            <a:ext cx="3794760" cy="548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7" name="S548"/>
          <p:cNvSpPr txBox="1"/>
          <p:nvPr/>
        </p:nvSpPr>
        <p:spPr>
          <a:xfrm>
            <a:off x="8055864" y="4343400"/>
            <a:ext cx="35021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Competitive</a:t>
            </a:r>
          </a:p>
        </p:txBody>
      </p:sp>
      <p:sp>
        <p:nvSpPr>
          <p:cNvPr id="549" name="S550"/>
          <p:cNvSpPr txBox="1"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51" name="S552"/>
          <p:cNvSpPr txBox="1"/>
          <p:nvPr/>
        </p:nvSpPr>
        <p:spPr>
          <a:xfrm>
            <a:off x="685800" y="5248656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takeaway: comparable accuracy at a small fraction of the training cost — detailed numbers are held for the manuscript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554"/>
          <p:cNvSpPr txBox="1"/>
          <p:nvPr/>
        </p:nvSpPr>
        <p:spPr>
          <a:xfrm>
            <a:off x="822960" y="365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5" name="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0120" y="502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S557"/>
          <p:cNvSpPr txBox="1"/>
          <p:nvPr/>
        </p:nvSpPr>
        <p:spPr>
          <a:xfrm>
            <a:off x="1965960" y="384048"/>
            <a:ext cx="8732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</a:p>
        </p:txBody>
      </p:sp>
      <p:sp>
        <p:nvSpPr>
          <p:cNvPr id="558" name="S559"/>
          <p:cNvSpPr txBox="1"/>
          <p:nvPr/>
        </p:nvSpPr>
        <p:spPr>
          <a:xfrm>
            <a:off x="1984248" y="1042416"/>
            <a:ext cx="871423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Summary and directions ahead</a:t>
            </a:r>
          </a:p>
        </p:txBody>
      </p:sp>
      <p:sp>
        <p:nvSpPr>
          <p:cNvPr id="560" name="S561"/>
          <p:cNvSpPr txBox="1"/>
          <p:nvPr/>
        </p:nvSpPr>
        <p:spPr>
          <a:xfrm>
            <a:off x="457200" y="6400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</a:p>
        </p:txBody>
      </p:sp>
      <p:sp>
        <p:nvSpPr>
          <p:cNvPr id="562" name="S56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</a:p>
        </p:txBody>
      </p:sp>
      <p:sp>
        <p:nvSpPr>
          <p:cNvPr id="564" name="S565"/>
          <p:cNvSpPr txBox="1"/>
          <p:nvPr/>
        </p:nvSpPr>
        <p:spPr>
          <a:xfrm>
            <a:off x="502920" y="1645920"/>
            <a:ext cx="53492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66" name="S567"/>
          <p:cNvSpPr txBox="1"/>
          <p:nvPr/>
        </p:nvSpPr>
        <p:spPr>
          <a:xfrm>
            <a:off x="777240" y="1828800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</p:txBody>
      </p:sp>
      <p:sp>
        <p:nvSpPr>
          <p:cNvPr id="568" name="S569"/>
          <p:cNvSpPr txBox="1"/>
          <p:nvPr/>
        </p:nvSpPr>
        <p:spPr>
          <a:xfrm>
            <a:off x="777240" y="226771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Large pretrained tissue-image models can be specialised cheaply and effectively for gland and nucleus segmentation.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Object boundaries can be learned without any manual boundary annotation.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Unlabelled images meaningfully reduce how many annotated images are needed.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The complete pipeline trains within free-tier cloud GPU limits.</a:t>
            </a:r>
          </a:p>
        </p:txBody>
      </p:sp>
      <p:sp>
        <p:nvSpPr>
          <p:cNvPr id="570" name="S571"/>
          <p:cNvSpPr txBox="1"/>
          <p:nvPr/>
        </p:nvSpPr>
        <p:spPr>
          <a:xfrm>
            <a:off x="6355080" y="1645920"/>
            <a:ext cx="53492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3D9E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9000"/>
              </a:srgbClr>
            </a:outerShdw>
          </a:effectLst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72" name="S573"/>
          <p:cNvSpPr txBox="1"/>
          <p:nvPr/>
        </p:nvSpPr>
        <p:spPr>
          <a:xfrm>
            <a:off x="6629400" y="1828800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</a:p>
        </p:txBody>
      </p:sp>
      <p:sp>
        <p:nvSpPr>
          <p:cNvPr id="574" name="S575"/>
          <p:cNvSpPr txBox="1"/>
          <p:nvPr/>
        </p:nvSpPr>
        <p:spPr>
          <a:xfrm>
            <a:off x="6629400" y="226771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Multi-scale image inputs, for very large and very small objects alike.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Classifying cell and nucleus types, not only outlining them.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Testing additional pretrained backbone models.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Extending the evaluation to further tissue types and datasets.</a:t>
            </a:r>
          </a:p>
          <a:p>
            <a:pPr marL="219456" lvl="0" indent="-219456" algn="l" rtl="0">
              <a:lnSpc>
                <a:spcPct val="112000"/>
              </a:lnSpc>
              <a:spcBef>
                <a:spcPts val="620"/>
              </a:spcBef>
              <a:spcAft>
                <a:spcPts val="0"/>
              </a:spcAft>
              <a:buClr>
                <a:srgbClr val="1E2761"/>
              </a:buClr>
              <a:buFont typeface="Calibri"/>
              <a:buChar char="•"/>
            </a:pPr>
            <a:r>
              <a:rPr lang="en-US" b="0" i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Completing and submitting the full research manuscript.</a:t>
            </a:r>
          </a:p>
        </p:txBody>
      </p:sp>
      <p:sp>
        <p:nvSpPr>
          <p:cNvPr id="576" name="S577"/>
          <p:cNvSpPr txBox="1"/>
          <p:nvPr/>
        </p:nvSpPr>
        <p:spPr>
          <a:xfrm>
            <a:off x="502920" y="5440680"/>
            <a:ext cx="11201400" cy="566928"/>
          </a:xfrm>
          <a:prstGeom prst="roundRect">
            <a:avLst>
              <a:gd name="adj" fmla="val 20000"/>
            </a:avLst>
          </a:prstGeom>
          <a:solidFill>
            <a:srgbClr val="EEF1F8"/>
          </a:solidFill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S579"/>
          <p:cNvSpPr txBox="1"/>
          <p:nvPr/>
        </p:nvSpPr>
        <p:spPr>
          <a:xfrm>
            <a:off x="685800" y="5458968"/>
            <a:ext cx="10835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full research paper based on this work is currently under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1152</Words>
  <Application>Microsoft Office PowerPoint</Application>
  <PresentationFormat>Widescreen</PresentationFormat>
  <Paragraphs>167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Supratik  Bhowal</cp:lastModifiedBy>
  <cp:revision>14</cp:revision>
  <dcterms:modified xsi:type="dcterms:W3CDTF">2026-08-15T07:22:45Z</dcterms:modified>
</cp:coreProperties>
</file>